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77724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6" d="100"/>
          <a:sy n="66" d="100"/>
        </p:scale>
        <p:origin x="2132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84048" y="164592"/>
            <a:ext cx="7004304" cy="713232"/>
          </a:xfrm>
          <a:prstGeom prst="roundRect">
            <a:avLst/>
          </a:prstGeom>
          <a:solidFill>
            <a:srgbClr val="031938"/>
          </a:solidFill>
          <a:ln w="6985">
            <a:solidFill>
              <a:srgbClr val="0319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(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8819" y="228600"/>
            <a:ext cx="3794760" cy="816809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384048" y="960120"/>
            <a:ext cx="7004304" cy="0"/>
          </a:xfrm>
          <a:prstGeom prst="line">
            <a:avLst/>
          </a:prstGeom>
          <a:ln w="5715">
            <a:solidFill>
              <a:srgbClr val="DA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38912" y="1097280"/>
            <a:ext cx="6949440" cy="155448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lnSpc>
                <a:spcPct val="95000"/>
              </a:lnSpc>
            </a:pPr>
            <a:r>
              <a:rPr sz="850" b="1">
                <a:solidFill>
                  <a:srgbClr val="007BB2"/>
                </a:solidFill>
                <a:latin typeface="Aptos"/>
              </a:rPr>
              <a:t>STRATEGIC PAYMENT INFRASTRUCTURE 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316736"/>
            <a:ext cx="6903720" cy="530352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lnSpc>
                <a:spcPct val="86000"/>
              </a:lnSpc>
            </a:pPr>
            <a:r>
              <a:rPr sz="2100" b="1">
                <a:solidFill>
                  <a:srgbClr val="031938"/>
                </a:solidFill>
                <a:latin typeface="Aptos"/>
              </a:rPr>
              <a:t>Helping Baker Tilly clients modernize how they accept, move, and manage money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38912" y="1929384"/>
            <a:ext cx="685800" cy="0"/>
          </a:xfrm>
          <a:prstGeom prst="line">
            <a:avLst/>
          </a:prstGeom>
          <a:ln w="25400">
            <a:solidFill>
              <a:srgbClr val="00A8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38912" y="2057400"/>
            <a:ext cx="6812280" cy="310896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lnSpc>
                <a:spcPct val="92000"/>
              </a:lnSpc>
            </a:pPr>
            <a:r>
              <a:rPr sz="880" b="0">
                <a:solidFill>
                  <a:srgbClr val="162232"/>
                </a:solidFill>
                <a:latin typeface="Aptos"/>
              </a:rPr>
              <a:t>Disruptive Payments is a specialist resource for payment environments where receivables, payables, software integrations, financing, and cash application need to work across complex operating models.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2587752"/>
            <a:ext cx="3429000" cy="199339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85216" y="2752344"/>
            <a:ext cx="438912" cy="43891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062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2916936"/>
            <a:ext cx="329184" cy="100584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ctr">
              <a:lnSpc>
                <a:spcPct val="95000"/>
              </a:lnSpc>
            </a:pPr>
            <a:r>
              <a:rPr sz="640" b="1">
                <a:solidFill>
                  <a:srgbClr val="062E58"/>
                </a:solidFill>
                <a:latin typeface="Aptos"/>
              </a:rPr>
              <a:t>TR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52144" y="2752344"/>
            <a:ext cx="0" cy="493776"/>
          </a:xfrm>
          <a:prstGeom prst="line">
            <a:avLst/>
          </a:prstGeom>
          <a:ln w="11430">
            <a:solidFill>
              <a:srgbClr val="00A8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280160" y="2734056"/>
            <a:ext cx="2386584" cy="192024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lnSpc>
                <a:spcPct val="95000"/>
              </a:lnSpc>
            </a:pPr>
            <a:r>
              <a:rPr sz="1070" b="1">
                <a:solidFill>
                  <a:srgbClr val="031938"/>
                </a:solidFill>
                <a:latin typeface="Aptos"/>
              </a:rPr>
              <a:t>1. Tribal Governments &amp; Enterprises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980944"/>
            <a:ext cx="2404872" cy="438912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lnSpc>
                <a:spcPct val="83000"/>
              </a:lnSpc>
            </a:pPr>
            <a:r>
              <a:rPr sz="675" b="0">
                <a:solidFill>
                  <a:srgbClr val="162232"/>
                </a:solidFill>
                <a:latin typeface="Aptos"/>
              </a:rPr>
              <a:t>Tribal clients often operate across governments, casinos, hotels, restaurants, retail, utilities, and economic development entities. The issue is not a merchant account. It is payment control across many systems and entities.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3520440"/>
            <a:ext cx="3099816" cy="0"/>
          </a:xfrm>
          <a:prstGeom prst="line">
            <a:avLst/>
          </a:prstGeom>
          <a:ln w="6350">
            <a:solidFill>
              <a:srgbClr val="DA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48640" y="3611880"/>
            <a:ext cx="3099816" cy="13716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lnSpc>
                <a:spcPct val="95000"/>
              </a:lnSpc>
            </a:pPr>
            <a:r>
              <a:rPr sz="750" b="1">
                <a:solidFill>
                  <a:srgbClr val="007BB2"/>
                </a:solidFill>
                <a:latin typeface="Aptos"/>
              </a:rPr>
              <a:t>Disruptive Payments fit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794760"/>
            <a:ext cx="2926080" cy="146304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lnSpc>
                <a:spcPct val="90000"/>
              </a:lnSpc>
            </a:pPr>
            <a:r>
              <a:rPr sz="685" b="0">
                <a:solidFill>
                  <a:srgbClr val="162232"/>
                </a:solidFill>
                <a:latin typeface="Aptos"/>
              </a:rPr>
              <a:t>•  Entity-level payment architecture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959352"/>
            <a:ext cx="2926080" cy="146304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lnSpc>
                <a:spcPct val="90000"/>
              </a:lnSpc>
            </a:pPr>
            <a:r>
              <a:rPr sz="685" b="0">
                <a:solidFill>
                  <a:srgbClr val="162232"/>
                </a:solidFill>
                <a:latin typeface="Aptos"/>
              </a:rPr>
              <a:t>•  Embedded payments for property and enterprise systems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123944"/>
            <a:ext cx="2926080" cy="146304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lnSpc>
                <a:spcPct val="90000"/>
              </a:lnSpc>
            </a:pPr>
            <a:r>
              <a:rPr sz="685" b="0">
                <a:solidFill>
                  <a:srgbClr val="162232"/>
                </a:solidFill>
                <a:latin typeface="Aptos"/>
              </a:rPr>
              <a:t>•  Vendor enrollment, ACH, checks, and virtual cards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288536"/>
            <a:ext cx="2926080" cy="146304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lnSpc>
                <a:spcPct val="90000"/>
              </a:lnSpc>
            </a:pPr>
            <a:r>
              <a:rPr sz="685" b="0">
                <a:solidFill>
                  <a:srgbClr val="162232"/>
                </a:solidFill>
                <a:latin typeface="Aptos"/>
              </a:rPr>
              <a:t>•  Payment monitoring and AP support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59352" y="2587752"/>
            <a:ext cx="3429000" cy="199339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160520" y="2752344"/>
            <a:ext cx="438912" cy="43891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062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215383" y="2916936"/>
            <a:ext cx="329184" cy="100584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ctr">
              <a:lnSpc>
                <a:spcPct val="95000"/>
              </a:lnSpc>
            </a:pPr>
            <a:r>
              <a:rPr sz="640" b="1">
                <a:solidFill>
                  <a:srgbClr val="062E58"/>
                </a:solidFill>
                <a:latin typeface="Aptos"/>
              </a:rPr>
              <a:t>+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727448" y="2752344"/>
            <a:ext cx="0" cy="493776"/>
          </a:xfrm>
          <a:prstGeom prst="line">
            <a:avLst/>
          </a:prstGeom>
          <a:ln w="11430">
            <a:solidFill>
              <a:srgbClr val="00A8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855464" y="2734056"/>
            <a:ext cx="2386584" cy="192024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lnSpc>
                <a:spcPct val="95000"/>
              </a:lnSpc>
            </a:pPr>
            <a:r>
              <a:rPr sz="1070" b="1">
                <a:solidFill>
                  <a:srgbClr val="031938"/>
                </a:solidFill>
                <a:latin typeface="Aptos"/>
              </a:rPr>
              <a:t>2. Healthcare &amp; Insurance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55464" y="2980944"/>
            <a:ext cx="2404872" cy="438912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lnSpc>
                <a:spcPct val="83000"/>
              </a:lnSpc>
            </a:pPr>
            <a:r>
              <a:rPr sz="675" b="0">
                <a:solidFill>
                  <a:srgbClr val="162232"/>
                </a:solidFill>
                <a:latin typeface="Aptos"/>
              </a:rPr>
              <a:t>Health plans, payviders, providers, medspas, practices, compound pharmacies, and health software companies need payment flows that connect patient intake, billing, financing, HSA/FSA, EMR/EHR, and supplier payments.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123944" y="3520440"/>
            <a:ext cx="3099816" cy="0"/>
          </a:xfrm>
          <a:prstGeom prst="line">
            <a:avLst/>
          </a:prstGeom>
          <a:ln w="6350">
            <a:solidFill>
              <a:srgbClr val="DA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123944" y="3611880"/>
            <a:ext cx="3099816" cy="13716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lnSpc>
                <a:spcPct val="95000"/>
              </a:lnSpc>
            </a:pPr>
            <a:r>
              <a:rPr sz="750" b="1">
                <a:solidFill>
                  <a:srgbClr val="007BB2"/>
                </a:solidFill>
                <a:latin typeface="Aptos"/>
              </a:rPr>
              <a:t>Disruptive Payments fit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15384" y="3794760"/>
            <a:ext cx="2926080" cy="146304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lnSpc>
                <a:spcPct val="90000"/>
              </a:lnSpc>
            </a:pPr>
            <a:r>
              <a:rPr sz="685" b="0">
                <a:solidFill>
                  <a:srgbClr val="162232"/>
                </a:solidFill>
                <a:latin typeface="Aptos"/>
              </a:rPr>
              <a:t>•  Patient financing and text-to-pay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15384" y="3959352"/>
            <a:ext cx="2926080" cy="146304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lnSpc>
                <a:spcPct val="90000"/>
              </a:lnSpc>
            </a:pPr>
            <a:r>
              <a:rPr sz="685" b="0">
                <a:solidFill>
                  <a:srgbClr val="162232"/>
                </a:solidFill>
                <a:latin typeface="Aptos"/>
              </a:rPr>
              <a:t>•  EMR, EHR, CRM, POS, and ERP payments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15384" y="4123944"/>
            <a:ext cx="2926080" cy="146304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lnSpc>
                <a:spcPct val="90000"/>
              </a:lnSpc>
            </a:pPr>
            <a:r>
              <a:rPr sz="685" b="0">
                <a:solidFill>
                  <a:srgbClr val="162232"/>
                </a:solidFill>
                <a:latin typeface="Aptos"/>
              </a:rPr>
              <a:t>•  Recurring billing, tokenization, and account updater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15384" y="4288536"/>
            <a:ext cx="2926080" cy="146304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lnSpc>
                <a:spcPct val="90000"/>
              </a:lnSpc>
            </a:pPr>
            <a:r>
              <a:rPr sz="685" b="0">
                <a:solidFill>
                  <a:srgbClr val="162232"/>
                </a:solidFill>
                <a:latin typeface="Aptos"/>
              </a:rPr>
              <a:t>•  ACH, virtual cards, and payables automation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84048" y="4718304"/>
            <a:ext cx="3429000" cy="199339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585216" y="4882896"/>
            <a:ext cx="438912" cy="43891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062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0080" y="5047488"/>
            <a:ext cx="329184" cy="100584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ctr">
              <a:lnSpc>
                <a:spcPct val="95000"/>
              </a:lnSpc>
            </a:pPr>
            <a:r>
              <a:rPr sz="640" b="1">
                <a:solidFill>
                  <a:srgbClr val="062E58"/>
                </a:solidFill>
                <a:latin typeface="Aptos"/>
              </a:rPr>
              <a:t>GOV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152144" y="4882896"/>
            <a:ext cx="0" cy="493776"/>
          </a:xfrm>
          <a:prstGeom prst="line">
            <a:avLst/>
          </a:prstGeom>
          <a:ln w="11430">
            <a:solidFill>
              <a:srgbClr val="00A8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280160" y="4864608"/>
            <a:ext cx="2386584" cy="192024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lnSpc>
                <a:spcPct val="95000"/>
              </a:lnSpc>
            </a:pPr>
            <a:r>
              <a:rPr sz="1070" b="1">
                <a:solidFill>
                  <a:srgbClr val="031938"/>
                </a:solidFill>
                <a:latin typeface="Aptos"/>
              </a:rPr>
              <a:t>3. Government &amp; Municipalities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80160" y="5111496"/>
            <a:ext cx="2404872" cy="438912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lnSpc>
                <a:spcPct val="83000"/>
              </a:lnSpc>
            </a:pPr>
            <a:r>
              <a:rPr sz="675" b="0">
                <a:solidFill>
                  <a:srgbClr val="162232"/>
                </a:solidFill>
                <a:latin typeface="Aptos"/>
              </a:rPr>
              <a:t>Cities, counties, utilities, schools, and public entities need controlled constituent payment channels for taxes, permits, licensing, utility bills, and fees while improving reconciliation and cash flow visibility.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48640" y="5650992"/>
            <a:ext cx="3099816" cy="0"/>
          </a:xfrm>
          <a:prstGeom prst="line">
            <a:avLst/>
          </a:prstGeom>
          <a:ln w="6350">
            <a:solidFill>
              <a:srgbClr val="DA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48640" y="5742432"/>
            <a:ext cx="3099816" cy="13716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lnSpc>
                <a:spcPct val="95000"/>
              </a:lnSpc>
            </a:pPr>
            <a:r>
              <a:rPr sz="750" b="1">
                <a:solidFill>
                  <a:srgbClr val="007BB2"/>
                </a:solidFill>
                <a:latin typeface="Aptos"/>
              </a:rPr>
              <a:t>Disruptive Payments fit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5925312"/>
            <a:ext cx="2926080" cy="146304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lnSpc>
                <a:spcPct val="90000"/>
              </a:lnSpc>
            </a:pPr>
            <a:r>
              <a:rPr sz="685" b="0">
                <a:solidFill>
                  <a:srgbClr val="162232"/>
                </a:solidFill>
                <a:latin typeface="Aptos"/>
              </a:rPr>
              <a:t>•  Citizen portals, invoice pay, IVR, and mobile payments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6089904"/>
            <a:ext cx="2926080" cy="146304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lnSpc>
                <a:spcPct val="90000"/>
              </a:lnSpc>
            </a:pPr>
            <a:r>
              <a:rPr sz="685" b="0">
                <a:solidFill>
                  <a:srgbClr val="162232"/>
                </a:solidFill>
                <a:latin typeface="Aptos"/>
              </a:rPr>
              <a:t>•  ACH, compliant surcharging, and card acceptance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6254496"/>
            <a:ext cx="2926080" cy="146304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lnSpc>
                <a:spcPct val="90000"/>
              </a:lnSpc>
            </a:pPr>
            <a:r>
              <a:rPr sz="685" b="0">
                <a:solidFill>
                  <a:srgbClr val="162232"/>
                </a:solidFill>
                <a:latin typeface="Aptos"/>
              </a:rPr>
              <a:t>•  ERP integration through API, SFTP, or UI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6419088"/>
            <a:ext cx="2926080" cy="146304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lnSpc>
                <a:spcPct val="90000"/>
              </a:lnSpc>
            </a:pPr>
            <a:r>
              <a:rPr sz="685" b="0">
                <a:solidFill>
                  <a:srgbClr val="162232"/>
                </a:solidFill>
                <a:latin typeface="Aptos"/>
              </a:rPr>
              <a:t>•  Vendor payments, virtual cards, and AP monitoring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959352" y="4718304"/>
            <a:ext cx="3429000" cy="199339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4160520" y="4882896"/>
            <a:ext cx="438912" cy="43891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062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215383" y="5047488"/>
            <a:ext cx="329184" cy="100584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ctr">
              <a:lnSpc>
                <a:spcPct val="95000"/>
              </a:lnSpc>
            </a:pPr>
            <a:r>
              <a:rPr sz="640" b="1">
                <a:solidFill>
                  <a:srgbClr val="062E58"/>
                </a:solidFill>
                <a:latin typeface="Aptos"/>
              </a:rPr>
              <a:t>NFP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4727448" y="4882896"/>
            <a:ext cx="0" cy="493776"/>
          </a:xfrm>
          <a:prstGeom prst="line">
            <a:avLst/>
          </a:prstGeom>
          <a:ln w="11430">
            <a:solidFill>
              <a:srgbClr val="00A8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4855464" y="4864608"/>
            <a:ext cx="2386584" cy="192024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lnSpc>
                <a:spcPct val="95000"/>
              </a:lnSpc>
            </a:pPr>
            <a:r>
              <a:rPr sz="1070" b="1">
                <a:solidFill>
                  <a:srgbClr val="031938"/>
                </a:solidFill>
                <a:latin typeface="Aptos"/>
              </a:rPr>
              <a:t>4. Social Services &amp; Nonprofits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55464" y="5111496"/>
            <a:ext cx="2404872" cy="438912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lnSpc>
                <a:spcPct val="83000"/>
              </a:lnSpc>
            </a:pPr>
            <a:r>
              <a:rPr sz="675" b="0">
                <a:solidFill>
                  <a:srgbClr val="162232"/>
                </a:solidFill>
                <a:latin typeface="Aptos"/>
              </a:rPr>
              <a:t>Mission-driven organizations need less manual administration across donor receipts, recurring giving, grants, ACH, vendor payments, and program disbursements. The value is stronger operating capacity, not cheaper processing.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4123944" y="5650992"/>
            <a:ext cx="3099816" cy="0"/>
          </a:xfrm>
          <a:prstGeom prst="line">
            <a:avLst/>
          </a:prstGeom>
          <a:ln w="6350">
            <a:solidFill>
              <a:srgbClr val="DA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4123944" y="5742432"/>
            <a:ext cx="3099816" cy="13716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lnSpc>
                <a:spcPct val="95000"/>
              </a:lnSpc>
            </a:pPr>
            <a:r>
              <a:rPr sz="750" b="1">
                <a:solidFill>
                  <a:srgbClr val="007BB2"/>
                </a:solidFill>
                <a:latin typeface="Aptos"/>
              </a:rPr>
              <a:t>Disruptive Payments fit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15384" y="5925312"/>
            <a:ext cx="2926080" cy="146304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lnSpc>
                <a:spcPct val="90000"/>
              </a:lnSpc>
            </a:pPr>
            <a:r>
              <a:rPr sz="685" b="0">
                <a:solidFill>
                  <a:srgbClr val="162232"/>
                </a:solidFill>
                <a:latin typeface="Aptos"/>
              </a:rPr>
              <a:t>•  Recurring giving and account updater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15384" y="6089904"/>
            <a:ext cx="2926080" cy="146304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lnSpc>
                <a:spcPct val="90000"/>
              </a:lnSpc>
            </a:pPr>
            <a:r>
              <a:rPr sz="685" b="0">
                <a:solidFill>
                  <a:srgbClr val="162232"/>
                </a:solidFill>
                <a:latin typeface="Aptos"/>
              </a:rPr>
              <a:t>•  ACH, mobile, invoice, and text-to-pay options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15384" y="6254496"/>
            <a:ext cx="2926080" cy="146304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lnSpc>
                <a:spcPct val="90000"/>
              </a:lnSpc>
            </a:pPr>
            <a:r>
              <a:rPr sz="685" b="0">
                <a:solidFill>
                  <a:srgbClr val="162232"/>
                </a:solidFill>
                <a:latin typeface="Aptos"/>
              </a:rPr>
              <a:t>•  Grant and vendor payment workflows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215384" y="6419088"/>
            <a:ext cx="2926080" cy="146304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lnSpc>
                <a:spcPct val="90000"/>
              </a:lnSpc>
            </a:pPr>
            <a:r>
              <a:rPr sz="685" b="0">
                <a:solidFill>
                  <a:srgbClr val="162232"/>
                </a:solidFill>
                <a:latin typeface="Aptos"/>
              </a:rPr>
              <a:t>•  Supplier enablement and payment support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84048" y="6858000"/>
            <a:ext cx="7004304" cy="1225296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585216" y="7022592"/>
            <a:ext cx="438912" cy="43891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062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40080" y="7187183"/>
            <a:ext cx="329184" cy="100584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ctr">
              <a:lnSpc>
                <a:spcPct val="95000"/>
              </a:lnSpc>
            </a:pPr>
            <a:r>
              <a:rPr sz="640" b="1">
                <a:solidFill>
                  <a:srgbClr val="062E58"/>
                </a:solidFill>
                <a:latin typeface="Aptos"/>
              </a:rPr>
              <a:t>AUTO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1152144" y="7022592"/>
            <a:ext cx="0" cy="493776"/>
          </a:xfrm>
          <a:prstGeom prst="line">
            <a:avLst/>
          </a:prstGeom>
          <a:ln w="11430">
            <a:solidFill>
              <a:srgbClr val="00A8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1280160" y="6995160"/>
            <a:ext cx="5852160" cy="192024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lnSpc>
                <a:spcPct val="95000"/>
              </a:lnSpc>
            </a:pPr>
            <a:r>
              <a:rPr sz="1070" b="1">
                <a:solidFill>
                  <a:srgbClr val="031938"/>
                </a:solidFill>
                <a:latin typeface="Aptos"/>
              </a:rPr>
              <a:t>5. Automotive Services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280160" y="7242048"/>
            <a:ext cx="5925312" cy="310896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lnSpc>
                <a:spcPct val="82000"/>
              </a:lnSpc>
            </a:pPr>
            <a:r>
              <a:rPr sz="685" b="0">
                <a:solidFill>
                  <a:srgbClr val="162232"/>
                </a:solidFill>
                <a:latin typeface="Aptos"/>
              </a:rPr>
              <a:t>Dealer and service ecosystems span auto, heavy equipment, marine, RV, RV parks, service centers, fleet, transportation, parts, retail, ecommerce, recurring billing, and financing.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548640" y="7644383"/>
            <a:ext cx="6675120" cy="0"/>
          </a:xfrm>
          <a:prstGeom prst="line">
            <a:avLst/>
          </a:prstGeom>
          <a:ln w="6350">
            <a:solidFill>
              <a:srgbClr val="DA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548640" y="7735824"/>
            <a:ext cx="1645920" cy="13716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lnSpc>
                <a:spcPct val="95000"/>
              </a:lnSpc>
            </a:pPr>
            <a:r>
              <a:rPr sz="750" b="1">
                <a:solidFill>
                  <a:srgbClr val="007BB2"/>
                </a:solidFill>
                <a:latin typeface="Aptos"/>
              </a:rPr>
              <a:t>Disruptive Payments fit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258568" y="7726679"/>
            <a:ext cx="2331720" cy="146304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lnSpc>
                <a:spcPct val="90000"/>
              </a:lnSpc>
            </a:pPr>
            <a:r>
              <a:rPr sz="675" b="0">
                <a:solidFill>
                  <a:srgbClr val="162232"/>
                </a:solidFill>
                <a:latin typeface="Aptos"/>
              </a:rPr>
              <a:t>•  CRM, POS, ERP, mobile, and online payments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258568" y="7891271"/>
            <a:ext cx="2331720" cy="146304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lnSpc>
                <a:spcPct val="90000"/>
              </a:lnSpc>
            </a:pPr>
            <a:r>
              <a:rPr sz="675" b="0">
                <a:solidFill>
                  <a:srgbClr val="162232"/>
                </a:solidFill>
                <a:latin typeface="Aptos"/>
              </a:rPr>
              <a:t>•  Level 2 and 3, unattended, contactless, ACH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727448" y="7726679"/>
            <a:ext cx="2514600" cy="146304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lnSpc>
                <a:spcPct val="90000"/>
              </a:lnSpc>
            </a:pPr>
            <a:r>
              <a:rPr sz="675" b="0">
                <a:solidFill>
                  <a:srgbClr val="162232"/>
                </a:solidFill>
                <a:latin typeface="Aptos"/>
              </a:rPr>
              <a:t>•  Consumer financing and recurring billing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727448" y="7891271"/>
            <a:ext cx="2514600" cy="146304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lnSpc>
                <a:spcPct val="90000"/>
              </a:lnSpc>
            </a:pPr>
            <a:r>
              <a:rPr sz="675" b="0">
                <a:solidFill>
                  <a:srgbClr val="162232"/>
                </a:solidFill>
                <a:latin typeface="Aptos"/>
              </a:rPr>
              <a:t>•  Account updater, virtual terminal, and dealer AP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384048" y="8247888"/>
            <a:ext cx="7004304" cy="1444752"/>
          </a:xfrm>
          <a:prstGeom prst="roundRect">
            <a:avLst/>
          </a:prstGeom>
          <a:solidFill>
            <a:srgbClr val="031938"/>
          </a:solidFill>
          <a:ln w="6985">
            <a:solidFill>
              <a:srgbClr val="0319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12648" y="8449055"/>
            <a:ext cx="1965960" cy="865791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lnSpc>
                <a:spcPct val="86000"/>
              </a:lnSpc>
            </a:pPr>
            <a:r>
              <a:rPr sz="1230" b="1" dirty="0">
                <a:solidFill>
                  <a:srgbClr val="FFFFFF"/>
                </a:solidFill>
                <a:latin typeface="Aptos"/>
              </a:rPr>
              <a:t>Why Baker Tilly Partners</a:t>
            </a:r>
            <a:endParaRPr lang="en-US" sz="1230" b="1" dirty="0">
              <a:solidFill>
                <a:srgbClr val="FFFFFF"/>
              </a:solidFill>
              <a:latin typeface="Aptos"/>
            </a:endParaRPr>
          </a:p>
          <a:p>
            <a:pPr algn="l">
              <a:lnSpc>
                <a:spcPct val="86000"/>
              </a:lnSpc>
            </a:pPr>
            <a:endParaRPr lang="en-US" sz="1230" b="1" dirty="0">
              <a:solidFill>
                <a:srgbClr val="FFFFFF"/>
              </a:solidFill>
              <a:latin typeface="Aptos"/>
            </a:endParaRPr>
          </a:p>
          <a:p>
            <a:pPr algn="l">
              <a:lnSpc>
                <a:spcPct val="86000"/>
              </a:lnSpc>
            </a:pPr>
            <a:r>
              <a:rPr sz="1230" b="1" dirty="0">
                <a:solidFill>
                  <a:srgbClr val="FFFFFF"/>
                </a:solidFill>
                <a:latin typeface="Aptos"/>
              </a:rPr>
              <a:t>Work</a:t>
            </a:r>
            <a:endParaRPr lang="en-US" sz="1230" b="1" dirty="0">
              <a:solidFill>
                <a:srgbClr val="FFFFFF"/>
              </a:solidFill>
              <a:latin typeface="Aptos"/>
            </a:endParaRPr>
          </a:p>
          <a:p>
            <a:pPr algn="l">
              <a:lnSpc>
                <a:spcPct val="86000"/>
              </a:lnSpc>
            </a:pPr>
            <a:r>
              <a:rPr sz="1230" b="1" dirty="0">
                <a:solidFill>
                  <a:srgbClr val="FFFFFF"/>
                </a:solidFill>
                <a:latin typeface="Aptos"/>
              </a:rPr>
              <a:t>
With Disruptive Payments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612648" y="9479440"/>
            <a:ext cx="374904" cy="0"/>
          </a:xfrm>
          <a:prstGeom prst="line">
            <a:avLst/>
          </a:prstGeom>
          <a:ln w="22860">
            <a:solidFill>
              <a:srgbClr val="00A8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2788920" y="8430767"/>
            <a:ext cx="0" cy="1051561"/>
          </a:xfrm>
          <a:prstGeom prst="line">
            <a:avLst/>
          </a:prstGeom>
          <a:ln w="6350">
            <a:solidFill>
              <a:srgbClr val="759B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5074920" y="8430767"/>
            <a:ext cx="0" cy="1051561"/>
          </a:xfrm>
          <a:prstGeom prst="line">
            <a:avLst/>
          </a:prstGeom>
          <a:ln w="6350">
            <a:solidFill>
              <a:srgbClr val="759B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2971800" y="8476488"/>
            <a:ext cx="1874519" cy="146304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lnSpc>
                <a:spcPct val="90000"/>
              </a:lnSpc>
            </a:pPr>
            <a:r>
              <a:rPr sz="635" b="0">
                <a:solidFill>
                  <a:srgbClr val="FFFFFF"/>
                </a:solidFill>
                <a:latin typeface="Aptos"/>
              </a:rPr>
              <a:t>•  Complex industry payment design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971800" y="8787384"/>
            <a:ext cx="1874519" cy="146304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lnSpc>
                <a:spcPct val="90000"/>
              </a:lnSpc>
            </a:pPr>
            <a:r>
              <a:rPr sz="635" b="0">
                <a:solidFill>
                  <a:srgbClr val="FFFFFF"/>
                </a:solidFill>
                <a:latin typeface="Aptos"/>
              </a:rPr>
              <a:t>•  Dynamic payment pages: hosted, checkout, embedded, API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971800" y="9098280"/>
            <a:ext cx="1874519" cy="146304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lnSpc>
                <a:spcPct val="90000"/>
              </a:lnSpc>
            </a:pPr>
            <a:r>
              <a:rPr sz="635" b="0">
                <a:solidFill>
                  <a:srgbClr val="FFFFFF"/>
                </a:solidFill>
                <a:latin typeface="Aptos"/>
              </a:rPr>
              <a:t>•  Receivables: text, email, IVR, mobile, recurring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257800" y="8476488"/>
            <a:ext cx="1874519" cy="146304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lnSpc>
                <a:spcPct val="90000"/>
              </a:lnSpc>
            </a:pPr>
            <a:r>
              <a:rPr sz="635" b="0">
                <a:solidFill>
                  <a:srgbClr val="FFFFFF"/>
                </a:solidFill>
                <a:latin typeface="Aptos"/>
              </a:rPr>
              <a:t>•  Payables: enrollment, checks, ACH, virtual cards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257800" y="8787384"/>
            <a:ext cx="1874519" cy="146304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lnSpc>
                <a:spcPct val="90000"/>
              </a:lnSpc>
            </a:pPr>
            <a:r>
              <a:rPr sz="635" b="0">
                <a:solidFill>
                  <a:srgbClr val="FFFFFF"/>
                </a:solidFill>
                <a:latin typeface="Aptos"/>
              </a:rPr>
              <a:t>•  ERP connectivity through API, SFTP, or UI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257800" y="9098280"/>
            <a:ext cx="1874519" cy="146304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lnSpc>
                <a:spcPct val="90000"/>
              </a:lnSpc>
            </a:pPr>
            <a:r>
              <a:rPr sz="635" b="0">
                <a:solidFill>
                  <a:srgbClr val="FFFFFF"/>
                </a:solidFill>
                <a:latin typeface="Aptos"/>
              </a:rPr>
              <a:t>•  Controls: fraud protection, chargeback rights, cash flow timing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38912" y="9820656"/>
            <a:ext cx="6858000" cy="82296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lnSpc>
                <a:spcPct val="95000"/>
              </a:lnSpc>
            </a:pPr>
            <a:r>
              <a:rPr sz="570" b="0">
                <a:solidFill>
                  <a:srgbClr val="566373"/>
                </a:solidFill>
                <a:latin typeface="Aptos"/>
              </a:rPr>
              <a:t>Prepared as a strategic infrastructure overview for Baker Tilly industry teams.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384048" y="9939528"/>
            <a:ext cx="7004304" cy="0"/>
          </a:xfrm>
          <a:prstGeom prst="line">
            <a:avLst/>
          </a:prstGeom>
          <a:ln w="5715">
            <a:solidFill>
              <a:srgbClr val="DA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538</Words>
  <Application>Microsoft Office PowerPoint</Application>
  <PresentationFormat>Custom</PresentationFormat>
  <Paragraphs>54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Jason Sydney</dc:creator>
  <cp:keywords/>
  <dc:description>generated using python-pptx</dc:description>
  <cp:lastModifiedBy>Jason Sydney</cp:lastModifiedBy>
  <cp:revision>2</cp:revision>
  <dcterms:created xsi:type="dcterms:W3CDTF">2013-01-27T09:14:16Z</dcterms:created>
  <dcterms:modified xsi:type="dcterms:W3CDTF">2026-06-25T17:36:04Z</dcterms:modified>
  <cp:category/>
</cp:coreProperties>
</file>